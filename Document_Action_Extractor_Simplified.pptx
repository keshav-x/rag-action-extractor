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ismatic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645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74155"/>
                </a:solidFill>
                <a:latin typeface="Segoe UI"/>
              </a:defRPr>
            </a:pPr>
            <a:r>
              <a:t>ACADEMIC CAPSTONE PROJECT • CLASS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7772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1E1B26"/>
                </a:solidFill>
                <a:latin typeface="Georgia"/>
              </a:defRPr>
            </a:pPr>
            <a:r>
              <a:t>Document Action</a:t>
            </a:r>
            <a:br/>
            <a:r>
              <a:t>Extractor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73540"/>
                </a:solidFill>
                <a:latin typeface="Segoe UI"/>
              </a:defRPr>
            </a:pPr>
            <a:r>
              <a:t>Autonomous Task, Assignee &amp; Deadline Extraction from Unstructured Text</a:t>
            </a:r>
            <a:br/>
            <a:r>
              <a:t>Powered by Retrieval-Augmented Generation (RAG) &amp; Local LLM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5029200"/>
            <a:ext cx="68580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000" b="1">
                <a:solidFill>
                  <a:srgbClr val="D74155"/>
                </a:solidFill>
                <a:latin typeface="Segoe UI"/>
              </a:defRPr>
            </a:pPr>
            <a:r>
              <a:t>PROJECT AUTHORS &amp; CONTRIBUTORS</a:t>
            </a:r>
          </a:p>
          <a:p>
            <a:pPr>
              <a:spcBef>
                <a:spcPts val="400"/>
              </a:spcBef>
              <a:defRPr sz="1300" b="1">
                <a:solidFill>
                  <a:srgbClr val="1E1B26"/>
                </a:solidFill>
                <a:latin typeface="Segoe UI"/>
              </a:defRPr>
            </a:pPr>
            <a:r>
              <a:t>• Keshav — Roll No: 2449391        • Darshveer — Roll No: 2449377</a:t>
            </a:r>
          </a:p>
          <a:p>
            <a:pPr>
              <a:spcBef>
                <a:spcPts val="200"/>
              </a:spcBef>
              <a:defRPr sz="1050">
                <a:solidFill>
                  <a:srgbClr val="706C78"/>
                </a:solidFill>
                <a:latin typeface="Segoe UI"/>
              </a:defRPr>
            </a:pPr>
            <a:r>
              <a:t>Department of Computer Science &amp; Engineering | Academic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01 / MOTIVATION &amp;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E1B26"/>
                </a:solidFill>
                <a:latin typeface="Georgia"/>
              </a:defRPr>
            </a:pPr>
            <a:r>
              <a:t>The Challenge of Unstructured Business &amp; Technical Documents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383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 bIns="274320" wrap="square"/>
          <a:lstStyle/>
          <a:p>
            <a:pPr algn="ctr">
              <a:defRPr sz="2800" b="1">
                <a:solidFill>
                  <a:srgbClr val="D74155"/>
                </a:solidFill>
                <a:latin typeface="Georgia"/>
              </a:defRPr>
            </a:pPr>
            <a:r>
              <a:t>01</a:t>
            </a:r>
          </a:p>
          <a:p>
            <a:pPr>
              <a:spcBef>
                <a:spcPts val="800"/>
              </a:spcBef>
              <a:defRPr sz="1700" b="1">
                <a:solidFill>
                  <a:srgbClr val="1E1B26"/>
                </a:solidFill>
                <a:latin typeface="Georgia"/>
              </a:defRPr>
            </a:pPr>
            <a:r>
              <a:t>Information Overload</a:t>
            </a:r>
          </a:p>
          <a:p>
            <a:pPr>
              <a:spcBef>
                <a:spcPts val="1200"/>
              </a:spcBef>
              <a:defRPr sz="1250">
                <a:solidFill>
                  <a:srgbClr val="373540"/>
                </a:solidFill>
                <a:latin typeface="Segoe UI"/>
              </a:defRPr>
            </a:pPr>
            <a:r>
              <a:t>Meeting minutes, technical specifications, and project updates span dozens of pages. Concrete tasks and critical decisions get lost in long conversational narratives.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828800"/>
            <a:ext cx="3383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 bIns="274320" wrap="square"/>
          <a:lstStyle/>
          <a:p>
            <a:pPr algn="ctr">
              <a:defRPr sz="2800" b="1">
                <a:solidFill>
                  <a:srgbClr val="D74155"/>
                </a:solidFill>
                <a:latin typeface="Georgia"/>
              </a:defRPr>
            </a:pPr>
            <a:r>
              <a:t>02</a:t>
            </a:r>
          </a:p>
          <a:p>
            <a:pPr>
              <a:spcBef>
                <a:spcPts val="800"/>
              </a:spcBef>
              <a:defRPr sz="1700" b="1">
                <a:solidFill>
                  <a:srgbClr val="1E1B26"/>
                </a:solidFill>
                <a:latin typeface="Georgia"/>
              </a:defRPr>
            </a:pPr>
            <a:r>
              <a:t>Diffused Ownership &amp; Deadlines</a:t>
            </a:r>
          </a:p>
          <a:p>
            <a:pPr>
              <a:spcBef>
                <a:spcPts val="1200"/>
              </a:spcBef>
              <a:defRPr sz="1250">
                <a:solidFill>
                  <a:srgbClr val="373540"/>
                </a:solidFill>
                <a:latin typeface="Segoe UI"/>
              </a:defRPr>
            </a:pPr>
            <a:r>
              <a:t>Action items mentioned informally ('we should test this by Friday') often lack explicit assignee tracking, leading to forgotten deadlines and milestone delays.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828800"/>
            <a:ext cx="3383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 bIns="274320" wrap="square"/>
          <a:lstStyle/>
          <a:p>
            <a:pPr algn="ctr">
              <a:defRPr sz="2800" b="1">
                <a:solidFill>
                  <a:srgbClr val="D74155"/>
                </a:solidFill>
                <a:latin typeface="Georgia"/>
              </a:defRPr>
            </a:pPr>
            <a:r>
              <a:t>03</a:t>
            </a:r>
          </a:p>
          <a:p>
            <a:pPr>
              <a:spcBef>
                <a:spcPts val="800"/>
              </a:spcBef>
              <a:defRPr sz="1700" b="1">
                <a:solidFill>
                  <a:srgbClr val="1E1B26"/>
                </a:solidFill>
                <a:latin typeface="Georgia"/>
              </a:defRPr>
            </a:pPr>
            <a:r>
              <a:t>Manual Inefficiency</a:t>
            </a:r>
          </a:p>
          <a:p>
            <a:pPr>
              <a:spcBef>
                <a:spcPts val="1200"/>
              </a:spcBef>
              <a:defRPr sz="1250">
                <a:solidFill>
                  <a:srgbClr val="373540"/>
                </a:solidFill>
                <a:latin typeface="Segoe UI"/>
              </a:defRPr>
            </a:pPr>
            <a:r>
              <a:t>Teams waste hours every week reading transcripts to manually copy tasks into Jira or Trello, a slow process heavily prone to human oversight.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02 /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E1B26"/>
                </a:solidFill>
                <a:latin typeface="Georgia"/>
              </a:defRPr>
            </a:pPr>
            <a:r>
              <a:t>Automated, Grounded Action Item Extraction with Zero Guesswork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 bIns="274320" wrap="square"/>
          <a:lstStyle/>
          <a:p>
            <a:pPr algn="ctr">
              <a:defRPr sz="1800" b="1">
                <a:solidFill>
                  <a:srgbClr val="1E1B26"/>
                </a:solidFill>
                <a:latin typeface="Georgia"/>
              </a:defRPr>
            </a:pPr>
            <a:r>
              <a:t>What Does Document Action Extractor Do?</a:t>
            </a:r>
          </a:p>
          <a:p>
            <a:pPr>
              <a:spcBef>
                <a:spcPts val="1000"/>
              </a:spcBef>
              <a:defRPr sz="1300" b="1">
                <a:solidFill>
                  <a:srgbClr val="D74155"/>
                </a:solidFill>
                <a:latin typeface="Segoe UI"/>
              </a:defRPr>
            </a:pPr>
            <a:r>
              <a:t>• Multi-Format Ingestion:</a:t>
            </a:r>
          </a:p>
          <a:p>
            <a:pPr>
              <a:spcBef>
                <a:spcPts val="2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  Uploads PDF, Word (.docx), and Text (.txt) files with smart document structure parsing.</a:t>
            </a:r>
          </a:p>
          <a:p>
            <a:pPr>
              <a:spcBef>
                <a:spcPts val="1000"/>
              </a:spcBef>
              <a:defRPr sz="1300" b="1">
                <a:solidFill>
                  <a:srgbClr val="D74155"/>
                </a:solidFill>
                <a:latin typeface="Segoe UI"/>
              </a:defRPr>
            </a:pPr>
            <a:r>
              <a:t>• Semantic Chunk Search:</a:t>
            </a:r>
          </a:p>
          <a:p>
            <a:pPr>
              <a:spcBef>
                <a:spcPts val="2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  Finds the exact sections discussing deliverables rather than passing noisy full text.</a:t>
            </a:r>
          </a:p>
          <a:p>
            <a:pPr>
              <a:spcBef>
                <a:spcPts val="1000"/>
              </a:spcBef>
              <a:defRPr sz="1300" b="1">
                <a:solidFill>
                  <a:srgbClr val="D74155"/>
                </a:solidFill>
                <a:latin typeface="Segoe UI"/>
              </a:defRPr>
            </a:pPr>
            <a:r>
              <a:t>• Structured JSON Output:</a:t>
            </a:r>
          </a:p>
          <a:p>
            <a:pPr>
              <a:spcBef>
                <a:spcPts val="2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  Extracts validated attributes: Task Description, Owner, Due Date, and Priority.</a:t>
            </a:r>
          </a:p>
          <a:p>
            <a:pPr>
              <a:spcBef>
                <a:spcPts val="1000"/>
              </a:spcBef>
              <a:defRPr sz="1300" b="1">
                <a:solidFill>
                  <a:srgbClr val="D74155"/>
                </a:solidFill>
                <a:latin typeface="Segoe UI"/>
              </a:defRPr>
            </a:pPr>
            <a:r>
              <a:t>• 100% Auditable Source Citations:</a:t>
            </a:r>
          </a:p>
          <a:p>
            <a:pPr>
              <a:spcBef>
                <a:spcPts val="2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  Every single task card cites the exact sentence quote from the document.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400" b="1">
                <a:solidFill>
                  <a:srgbClr val="1E1B26"/>
                </a:solidFill>
                <a:latin typeface="Georgia"/>
              </a:defRPr>
            </a:pPr>
            <a:r>
              <a:t>Feature 01: Privacy-First Local Execution</a:t>
            </a:r>
          </a:p>
          <a:p>
            <a:pPr>
              <a:spcBef>
                <a:spcPts val="4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Complete 100% offline capability using Ollama (Qwen 3.5 9B) and local ONNX embeddings. No confidential files ever leave your machine.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3273552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400" b="1">
                <a:solidFill>
                  <a:srgbClr val="1E1B26"/>
                </a:solidFill>
                <a:latin typeface="Georgia"/>
              </a:defRPr>
            </a:pPr>
            <a:r>
              <a:t>Feature 02: Instant Cloud Scale (Gemini)</a:t>
            </a:r>
          </a:p>
          <a:p>
            <a:pPr>
              <a:spcBef>
                <a:spcPts val="4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Seamless one-click toggle to Google Gemini Flash for lightning-fast (1.5s) cloud processing when offline privacy isn't required.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809744"/>
            <a:ext cx="51206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400" b="1">
                <a:solidFill>
                  <a:srgbClr val="1E1B26"/>
                </a:solidFill>
                <a:latin typeface="Georgia"/>
              </a:defRPr>
            </a:pPr>
            <a:r>
              <a:t>Feature 03: One-Click Universal Export</a:t>
            </a:r>
          </a:p>
          <a:p>
            <a:pPr>
              <a:spcBef>
                <a:spcPts val="4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Instantly download extracted tasks as CSV, formatted JSON, or Markdown for direct import into Notion, Jira, or GitHub Issues.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03 / SYSTEM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E1B26"/>
                </a:solidFill>
                <a:latin typeface="Georgia"/>
              </a:defRPr>
            </a:pPr>
            <a:r>
              <a:t>How Unstructured Text Becomes Structured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2514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100" b="1">
                <a:solidFill>
                  <a:srgbClr val="D74155"/>
                </a:solidFill>
                <a:latin typeface="Segoe UI"/>
              </a:defRPr>
            </a:pPr>
            <a:r>
              <a:t>STAGE 1</a:t>
            </a:r>
          </a:p>
          <a:p>
            <a:pPr>
              <a:spcBef>
                <a:spcPts val="400"/>
              </a:spcBef>
              <a:defRPr sz="1600" b="1">
                <a:solidFill>
                  <a:srgbClr val="1E1B26"/>
                </a:solidFill>
                <a:latin typeface="Georgia"/>
              </a:defRPr>
            </a:pPr>
            <a:r>
              <a:t>Document Ingestion</a:t>
            </a:r>
          </a:p>
          <a:p>
            <a:pPr>
              <a:spcBef>
                <a:spcPts val="200"/>
              </a:spcBef>
              <a:defRPr sz="1000" b="1">
                <a:solidFill>
                  <a:srgbClr val="2D3748"/>
                </a:solidFill>
                <a:latin typeface="Segoe UI"/>
              </a:defRPr>
            </a:pPr>
            <a:r>
              <a:t>PDF, Word, or TXT</a:t>
            </a:r>
          </a:p>
          <a:p>
            <a:pPr>
              <a:spcBef>
                <a:spcPts val="12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Document loaders extract raw text, and RecursiveCharacterTextSplitter segments prose into 800-character chunks with 100-character overlap.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3493008" y="1828800"/>
            <a:ext cx="2514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100" b="1">
                <a:solidFill>
                  <a:srgbClr val="D74155"/>
                </a:solidFill>
                <a:latin typeface="Segoe UI"/>
              </a:defRPr>
            </a:pPr>
            <a:r>
              <a:t>STAGE 2</a:t>
            </a:r>
          </a:p>
          <a:p>
            <a:pPr>
              <a:spcBef>
                <a:spcPts val="400"/>
              </a:spcBef>
              <a:defRPr sz="1600" b="1">
                <a:solidFill>
                  <a:srgbClr val="1E1B26"/>
                </a:solidFill>
                <a:latin typeface="Georgia"/>
              </a:defRPr>
            </a:pPr>
            <a:r>
              <a:t>Vector Indexing</a:t>
            </a:r>
          </a:p>
          <a:p>
            <a:pPr>
              <a:spcBef>
                <a:spcPts val="200"/>
              </a:spcBef>
              <a:defRPr sz="1000" b="1">
                <a:solidFill>
                  <a:srgbClr val="2D3748"/>
                </a:solidFill>
                <a:latin typeface="Segoe UI"/>
              </a:defRPr>
            </a:pPr>
            <a:r>
              <a:t>Local ONNX Embeddings</a:t>
            </a:r>
          </a:p>
          <a:p>
            <a:pPr>
              <a:spcBef>
                <a:spcPts val="12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The all-MiniLM-L6-v2 embedding model encodes each chunk into a 384-dimensional dense vector and stores it in persistent ChromaDB.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63056" y="1828800"/>
            <a:ext cx="2514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100" b="1">
                <a:solidFill>
                  <a:srgbClr val="D74155"/>
                </a:solidFill>
                <a:latin typeface="Segoe UI"/>
              </a:defRPr>
            </a:pPr>
            <a:r>
              <a:t>STAGE 3</a:t>
            </a:r>
          </a:p>
          <a:p>
            <a:pPr>
              <a:spcBef>
                <a:spcPts val="400"/>
              </a:spcBef>
              <a:defRPr sz="1600" b="1">
                <a:solidFill>
                  <a:srgbClr val="1E1B26"/>
                </a:solidFill>
                <a:latin typeface="Georgia"/>
              </a:defRPr>
            </a:pPr>
            <a:r>
              <a:t>Similarity Retrieval</a:t>
            </a:r>
          </a:p>
          <a:p>
            <a:pPr>
              <a:spcBef>
                <a:spcPts val="200"/>
              </a:spcBef>
              <a:defRPr sz="1000" b="1">
                <a:solidFill>
                  <a:srgbClr val="2D3748"/>
                </a:solidFill>
                <a:latin typeface="Segoe UI"/>
              </a:defRPr>
            </a:pPr>
            <a:r>
              <a:t>ChromaDB Top-K Search</a:t>
            </a:r>
          </a:p>
          <a:p>
            <a:pPr>
              <a:spcBef>
                <a:spcPts val="12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User queries ('Extract all action items') are matched against stored vectors using cosine similarity, retrieving only the most relevant chunks.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833104" y="1828800"/>
            <a:ext cx="251460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1100" b="1">
                <a:solidFill>
                  <a:srgbClr val="D74155"/>
                </a:solidFill>
                <a:latin typeface="Segoe UI"/>
              </a:defRPr>
            </a:pPr>
            <a:r>
              <a:t>STAGE 4</a:t>
            </a:r>
          </a:p>
          <a:p>
            <a:pPr>
              <a:spcBef>
                <a:spcPts val="400"/>
              </a:spcBef>
              <a:defRPr sz="1600" b="1">
                <a:solidFill>
                  <a:srgbClr val="1E1B26"/>
                </a:solidFill>
                <a:latin typeface="Georgia"/>
              </a:defRPr>
            </a:pPr>
            <a:r>
              <a:t>LLM Task Extraction</a:t>
            </a:r>
          </a:p>
          <a:p>
            <a:pPr>
              <a:spcBef>
                <a:spcPts val="200"/>
              </a:spcBef>
              <a:defRPr sz="1000" b="1">
                <a:solidFill>
                  <a:srgbClr val="2D3748"/>
                </a:solidFill>
                <a:latin typeface="Segoe UI"/>
              </a:defRPr>
            </a:pPr>
            <a:r>
              <a:t>Pydantic JSON Extraction</a:t>
            </a:r>
          </a:p>
          <a:p>
            <a:pPr>
              <a:spcBef>
                <a:spcPts val="12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The retrieved context is passed to the LLM (Ollama / Gemini) with strict JSON constraints, generating validated task objects with verified quotes.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04 / ARCHITECTURE &amp;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E1B26"/>
                </a:solidFill>
                <a:latin typeface="Georgia"/>
              </a:defRPr>
            </a:pPr>
            <a:r>
              <a:t>Robust Open-Source Technologies Built for Speed &amp; Reliability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5120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000" b="1">
                <a:solidFill>
                  <a:srgbClr val="D74155"/>
                </a:solidFill>
                <a:latin typeface="Segoe UI"/>
              </a:defRPr>
            </a:pPr>
            <a:r>
              <a:t>PRESENTATION LAYER</a:t>
            </a:r>
          </a:p>
          <a:p>
            <a:pPr>
              <a:spcBef>
                <a:spcPts val="2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Streamlit &amp; Dark Slate CSS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Modern, distraction-free Dark Slate theme (#0e1117 / #161b22).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Zero promotional clutter; high-contrast readability.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Intuitive workflow: Document -&gt; Query -&gt; Visual Task Cards.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Export options for CSV, JSON, and Markdown summaries.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120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000" b="1">
                <a:solidFill>
                  <a:srgbClr val="D74155"/>
                </a:solidFill>
                <a:latin typeface="Segoe UI"/>
              </a:defRPr>
            </a:pPr>
            <a:r>
              <a:t>VECTOR DATABASE ENGINE</a:t>
            </a:r>
          </a:p>
          <a:p>
            <a:pPr>
              <a:spcBef>
                <a:spcPts val="2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ChromaDB Persistent Store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Embedded vector database requiring zero external cloud setup.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Stores document embeddings with persistent disk storage.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Sub-millisecond cosine distance similarity matching.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Isolated collections allow re-indexing without data collisions.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023360"/>
            <a:ext cx="5120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000" b="1">
                <a:solidFill>
                  <a:srgbClr val="D74155"/>
                </a:solidFill>
                <a:latin typeface="Segoe UI"/>
              </a:defRPr>
            </a:pPr>
            <a:r>
              <a:t>EMBEDDING PIPELINE</a:t>
            </a:r>
          </a:p>
          <a:p>
            <a:pPr>
              <a:spcBef>
                <a:spcPts val="2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Local ONNX (all-MiniLM-L6-v2)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Runs 100% locally on CPU/GPU via ONNX runtime.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Zero API calls, zero rate-limit errors (no 429 quota failures).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Embeds 25 chunks in under 300ms.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Cloud Google text-embedding-004 available as fallback.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023360"/>
            <a:ext cx="512064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82880" rIns="182880" bIns="182880" wrap="square"/>
          <a:lstStyle/>
          <a:p>
            <a:pPr algn="ctr">
              <a:defRPr sz="1000" b="1">
                <a:solidFill>
                  <a:srgbClr val="D74155"/>
                </a:solidFill>
                <a:latin typeface="Segoe UI"/>
              </a:defRPr>
            </a:pPr>
            <a:r>
              <a:t>DUAL LLM REASONING</a:t>
            </a:r>
          </a:p>
          <a:p>
            <a:pPr>
              <a:spcBef>
                <a:spcPts val="2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Ollama (Local) &amp; Gemini (Cloud)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Ollama (Qwen 3.5 9B): 100% offline, privacy-guaranteed inference.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Optimized with think=False to prevent empty-token hangs.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Google Gemini Flash: High-speed cloud processing (~1.5s).</a:t>
            </a:r>
          </a:p>
          <a:p>
            <a:pPr>
              <a:spcBef>
                <a:spcPts val="300"/>
              </a:spcBef>
              <a:defRPr sz="1050">
                <a:solidFill>
                  <a:srgbClr val="373540"/>
                </a:solidFill>
                <a:latin typeface="Segoe UI"/>
              </a:defRPr>
            </a:pPr>
            <a:r>
              <a:t>• Pydantic schema validation guarantees pure, structured JSON.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05 / USER INTERFACE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E1B26"/>
                </a:solidFill>
                <a:latin typeface="Georgia"/>
              </a:defRPr>
            </a:pPr>
            <a:r>
              <a:t>Clean Ingestion Workspace &amp; Real-Time Document Indexing</a:t>
            </a:r>
          </a:p>
        </p:txBody>
      </p:sp>
      <p:pic>
        <p:nvPicPr>
          <p:cNvPr id="5" name="Picture 4" descr="slide_screenshot_index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217920" cy="412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1737360"/>
            <a:ext cx="40233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 bIns="274320" wrap="square"/>
          <a:lstStyle/>
          <a:p>
            <a:pPr algn="ctr">
              <a:defRPr sz="1700" b="1">
                <a:solidFill>
                  <a:srgbClr val="1E1B26"/>
                </a:solidFill>
                <a:latin typeface="Georgia"/>
              </a:defRPr>
            </a:pPr>
            <a:r>
              <a:t>Key Workspace Elements</a:t>
            </a:r>
          </a:p>
          <a:p>
            <a:pPr>
              <a:spcBef>
                <a:spcPts val="800"/>
              </a:spcBef>
              <a:defRPr sz="1200" b="1">
                <a:solidFill>
                  <a:srgbClr val="D74155"/>
                </a:solidFill>
                <a:latin typeface="Segoe UI"/>
              </a:defRPr>
            </a:pPr>
            <a:r>
              <a:t>• Sidebar Model Selector</a:t>
            </a:r>
          </a:p>
          <a:p>
            <a:pPr>
              <a:spcBef>
                <a:spcPts val="2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Switch easily between Local Ollama and Cloud Gemini. Choose temperature and top-K retrieved chunks.</a:t>
            </a:r>
          </a:p>
          <a:p>
            <a:pPr>
              <a:spcBef>
                <a:spcPts val="800"/>
              </a:spcBef>
              <a:defRPr sz="1200" b="1">
                <a:solidFill>
                  <a:srgbClr val="D74155"/>
                </a:solidFill>
                <a:latin typeface="Segoe UI"/>
              </a:defRPr>
            </a:pPr>
            <a:r>
              <a:t>• Drag-and-Drop Ingestion</a:t>
            </a:r>
          </a:p>
          <a:p>
            <a:pPr>
              <a:spcBef>
                <a:spcPts val="2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Upload any PDF, DOCX, or TXT file. Automatic background chunking and vector storage with zero wait.</a:t>
            </a:r>
          </a:p>
          <a:p>
            <a:pPr>
              <a:spcBef>
                <a:spcPts val="800"/>
              </a:spcBef>
              <a:defRPr sz="1200" b="1">
                <a:solidFill>
                  <a:srgbClr val="D74155"/>
                </a:solidFill>
                <a:latin typeface="Segoe UI"/>
              </a:defRPr>
            </a:pPr>
            <a:r>
              <a:t>• Document Text Preview</a:t>
            </a:r>
          </a:p>
          <a:p>
            <a:pPr>
              <a:spcBef>
                <a:spcPts val="2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An expandable inspector lets users verify the exact extracted text from multi-page documents.</a:t>
            </a:r>
          </a:p>
          <a:p>
            <a:pPr>
              <a:spcBef>
                <a:spcPts val="800"/>
              </a:spcBef>
              <a:defRPr sz="1200" b="1">
                <a:solidFill>
                  <a:srgbClr val="D74155"/>
                </a:solidFill>
                <a:latin typeface="Segoe UI"/>
              </a:defRPr>
            </a:pPr>
            <a:r>
              <a:t>• Targeted Preset Queries</a:t>
            </a:r>
          </a:p>
          <a:p>
            <a:pPr>
              <a:spcBef>
                <a:spcPts val="2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One-click filter presets: 'All Action Items', 'High Priority Only', 'Upcoming Deadlines', or 'Assigned Tasks'.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06 / LIVE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E1B26"/>
                </a:solidFill>
                <a:latin typeface="Georgia"/>
              </a:defRPr>
            </a:pPr>
            <a:r>
              <a:t>Grounded Task Extraction with Verified Context Quotes</a:t>
            </a:r>
          </a:p>
        </p:txBody>
      </p:sp>
      <p:pic>
        <p:nvPicPr>
          <p:cNvPr id="5" name="Picture 4" descr="slide_screensh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6217920" cy="412908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315200" y="1737360"/>
            <a:ext cx="402336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 bIns="274320" wrap="square"/>
          <a:lstStyle/>
          <a:p>
            <a:pPr algn="ctr">
              <a:defRPr sz="1700" b="1">
                <a:solidFill>
                  <a:srgbClr val="1E1B26"/>
                </a:solidFill>
                <a:latin typeface="Georgia"/>
              </a:defRPr>
            </a:pPr>
            <a:r>
              <a:t>Extracted Action Cards</a:t>
            </a:r>
          </a:p>
          <a:p>
            <a:pPr>
              <a:spcBef>
                <a:spcPts val="800"/>
              </a:spcBef>
              <a:defRPr sz="1200" b="1">
                <a:solidFill>
                  <a:srgbClr val="D74155"/>
                </a:solidFill>
                <a:latin typeface="Segoe UI"/>
              </a:defRPr>
            </a:pPr>
            <a:r>
              <a:t>• Concrete Tasks Identified</a:t>
            </a:r>
          </a:p>
          <a:p>
            <a:pPr>
              <a:spcBef>
                <a:spcPts val="2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Extracted 4 distinct deliverables from sample.pdf (Alice, Bob, Charlie, and Diana) in ~7.5 seconds.</a:t>
            </a:r>
          </a:p>
          <a:p>
            <a:pPr>
              <a:spcBef>
                <a:spcPts val="800"/>
              </a:spcBef>
              <a:defRPr sz="1200" b="1">
                <a:solidFill>
                  <a:srgbClr val="D74155"/>
                </a:solidFill>
                <a:latin typeface="Segoe UI"/>
              </a:defRPr>
            </a:pPr>
            <a:r>
              <a:t>• Explicit Metadata Mapping</a:t>
            </a:r>
          </a:p>
          <a:p>
            <a:pPr>
              <a:spcBef>
                <a:spcPts val="2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Each card clearly isolates the Responsible Owner, Due Date / Timeframe, and Priority Level badge.</a:t>
            </a:r>
          </a:p>
          <a:p>
            <a:pPr>
              <a:spcBef>
                <a:spcPts val="800"/>
              </a:spcBef>
              <a:defRPr sz="1200" b="1">
                <a:solidFill>
                  <a:srgbClr val="D74155"/>
                </a:solidFill>
                <a:latin typeface="Segoe UI"/>
              </a:defRPr>
            </a:pPr>
            <a:r>
              <a:t>• Direct Text Verification</a:t>
            </a:r>
          </a:p>
          <a:p>
            <a:pPr>
              <a:spcBef>
                <a:spcPts val="2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The Source Citation box displays the exact original sentence from the document, eliminating hallucinations.</a:t>
            </a:r>
          </a:p>
          <a:p>
            <a:pPr>
              <a:spcBef>
                <a:spcPts val="800"/>
              </a:spcBef>
              <a:defRPr sz="1200" b="1">
                <a:solidFill>
                  <a:srgbClr val="D74155"/>
                </a:solidFill>
                <a:latin typeface="Segoe UI"/>
              </a:defRPr>
            </a:pPr>
            <a:r>
              <a:t>• Multi-Format Export</a:t>
            </a:r>
          </a:p>
          <a:p>
            <a:pPr>
              <a:spcBef>
                <a:spcPts val="200"/>
              </a:spcBef>
              <a:defRPr sz="1100">
                <a:solidFill>
                  <a:srgbClr val="373540"/>
                </a:solidFill>
                <a:latin typeface="Segoe UI"/>
              </a:defRPr>
            </a:pPr>
            <a:r>
              <a:t>Buttons at the top allow instant export of all extracted items into CSV, JSON, or clean Markdown tables.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07 / TECHNICAL INNOVATIONS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E1B26"/>
                </a:solidFill>
                <a:latin typeface="Georgia"/>
              </a:defRPr>
            </a:pPr>
            <a:r>
              <a:t>Key Engineering Challenges Overcome During Development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828800"/>
            <a:ext cx="3383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2400" b="1">
                <a:solidFill>
                  <a:srgbClr val="D74155"/>
                </a:solidFill>
                <a:latin typeface="Georgia"/>
              </a:defRPr>
            </a:pPr>
            <a:r>
              <a:t>01</a:t>
            </a:r>
          </a:p>
          <a:p>
            <a:pPr>
              <a:spcBef>
                <a:spcPts val="4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Rate Limits on Free Cloud APIs</a:t>
            </a:r>
          </a:p>
          <a:p>
            <a:pPr>
              <a:spcBef>
                <a:spcPts val="800"/>
              </a:spcBef>
              <a:defRPr sz="1100">
                <a:solidFill>
                  <a:srgbClr val="A03232"/>
                </a:solidFill>
                <a:latin typeface="Segoe UI"/>
              </a:defRPr>
            </a:pPr>
            <a:r>
              <a:t>PROBLEM: Google's free-tier embedding API frequently hit HTTP 429 ResourceExhausted limits during multi-page document ingestion.</a:t>
            </a:r>
          </a:p>
          <a:p>
            <a:pPr>
              <a:spcBef>
                <a:spcPts val="800"/>
              </a:spcBef>
              <a:defRPr sz="1100">
                <a:solidFill>
                  <a:srgbClr val="1E6E32"/>
                </a:solidFill>
                <a:latin typeface="Segoe UI"/>
              </a:defRPr>
            </a:pPr>
            <a:r>
              <a:t>ENGINEERED FIX: Integrated local ONNX all-MiniLM-L6-v2 embeddings running directly on device. Result: Zero API quota, zero cost, and 15ms batch encoding speed.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828800"/>
            <a:ext cx="3383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2400" b="1">
                <a:solidFill>
                  <a:srgbClr val="D74155"/>
                </a:solidFill>
                <a:latin typeface="Georgia"/>
              </a:defRPr>
            </a:pPr>
            <a:r>
              <a:t>02</a:t>
            </a:r>
          </a:p>
          <a:p>
            <a:pPr>
              <a:spcBef>
                <a:spcPts val="4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Reasoning-Model Output Loops in Ollama</a:t>
            </a:r>
          </a:p>
          <a:p>
            <a:pPr>
              <a:spcBef>
                <a:spcPts val="800"/>
              </a:spcBef>
              <a:defRPr sz="1100">
                <a:solidFill>
                  <a:srgbClr val="A03232"/>
                </a:solidFill>
                <a:latin typeface="Segoe UI"/>
              </a:defRPr>
            </a:pPr>
            <a:r>
              <a:t>PROBLEM: Qwen 3.5 9B streamed its chain-of-thought into a thinking field for 90+ seconds, leaving the response field empty and triggering timeouts in LangChain.</a:t>
            </a:r>
          </a:p>
          <a:p>
            <a:pPr>
              <a:spcBef>
                <a:spcPts val="800"/>
              </a:spcBef>
              <a:defRPr sz="1100">
                <a:solidFill>
                  <a:srgbClr val="1E6E32"/>
                </a:solidFill>
                <a:latin typeface="Segoe UI"/>
              </a:defRPr>
            </a:pPr>
            <a:r>
              <a:t>ENGINEERED FIX: Developed a custom OllamaDirectLLM client explicitly enforcing think=False. Response latency dropped from 90s to 7.5s with instant JSON output.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955279" y="1828800"/>
            <a:ext cx="338328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 rIns="228600" bIns="228600" wrap="square"/>
          <a:lstStyle/>
          <a:p>
            <a:pPr algn="ctr">
              <a:defRPr sz="2400" b="1">
                <a:solidFill>
                  <a:srgbClr val="D74155"/>
                </a:solidFill>
                <a:latin typeface="Georgia"/>
              </a:defRPr>
            </a:pPr>
            <a:r>
              <a:t>03</a:t>
            </a:r>
          </a:p>
          <a:p>
            <a:pPr>
              <a:spcBef>
                <a:spcPts val="400"/>
              </a:spcBef>
              <a:defRPr sz="1500" b="1">
                <a:solidFill>
                  <a:srgbClr val="1E1B26"/>
                </a:solidFill>
                <a:latin typeface="Georgia"/>
              </a:defRPr>
            </a:pPr>
            <a:r>
              <a:t>Zero Hallucination with Verifiable Grounding</a:t>
            </a:r>
          </a:p>
          <a:p>
            <a:pPr>
              <a:spcBef>
                <a:spcPts val="800"/>
              </a:spcBef>
              <a:defRPr sz="1100">
                <a:solidFill>
                  <a:srgbClr val="A03232"/>
                </a:solidFill>
                <a:latin typeface="Segoe UI"/>
              </a:defRPr>
            </a:pPr>
            <a:r>
              <a:t>PROBLEM: Standard LLM summarizers tend to invent deadlines or assume task owners not stated in the source text.</a:t>
            </a:r>
          </a:p>
          <a:p>
            <a:pPr>
              <a:spcBef>
                <a:spcPts val="800"/>
              </a:spcBef>
              <a:defRPr sz="1100">
                <a:solidFill>
                  <a:srgbClr val="1E6E32"/>
                </a:solidFill>
                <a:latin typeface="Segoe UI"/>
              </a:defRPr>
            </a:pPr>
            <a:r>
              <a:t>ENGINEERED FIX: Designed a strict Pydantic extraction schema requiring an exact verbatim source quote for every action item, guaranteeing complete factual grounding.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ismatic_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D74155"/>
                </a:solidFill>
                <a:latin typeface="Segoe UI"/>
              </a:defRPr>
            </a:pPr>
            <a:r>
              <a:t>08 / SUMMARY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700" b="1">
                <a:solidFill>
                  <a:srgbClr val="1E1B26"/>
                </a:solidFill>
                <a:latin typeface="Georgia"/>
              </a:defRPr>
            </a:pPr>
            <a:r>
              <a:t>Document Action Extractor: Ready for Academic &amp; Real-World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3736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274320" rIns="274320" bIns="274320" wrap="square"/>
          <a:lstStyle/>
          <a:p>
            <a:pPr algn="ctr">
              <a:defRPr sz="1800" b="1">
                <a:solidFill>
                  <a:srgbClr val="1E1B26"/>
                </a:solidFill>
                <a:latin typeface="Georgia"/>
              </a:defRPr>
            </a:pPr>
            <a:r>
              <a:t>Key Project Achievements</a:t>
            </a:r>
          </a:p>
          <a:p>
            <a:pPr>
              <a:spcBef>
                <a:spcPts val="8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✓ Complete End-to-End RAG System: Seamless pipeline from raw file ingestion to vector retrieval and LLM extraction.</a:t>
            </a:r>
          </a:p>
          <a:p>
            <a:pPr>
              <a:spcBef>
                <a:spcPts val="8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✓ 100% Data Privacy: Full offline support ensuring corporate and confidential documents never leave the local machine.</a:t>
            </a:r>
          </a:p>
          <a:p>
            <a:pPr>
              <a:spcBef>
                <a:spcPts val="8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✓ Zero-Hallucination Extraction: Strict source grounding ensures every single extracted task reflects verified document context.</a:t>
            </a:r>
          </a:p>
          <a:p>
            <a:pPr>
              <a:spcBef>
                <a:spcPts val="8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✓ Dual Inference Engines: Flexible runtime choosing between local Ollama privacy and high-speed Google Gemini Flash.</a:t>
            </a:r>
          </a:p>
          <a:p>
            <a:pPr>
              <a:spcBef>
                <a:spcPts val="800"/>
              </a:spcBef>
              <a:defRPr sz="1150">
                <a:solidFill>
                  <a:srgbClr val="373540"/>
                </a:solidFill>
                <a:latin typeface="Segoe UI"/>
              </a:defRPr>
            </a:pPr>
            <a:r>
              <a:t>✓ Clean, Modern Aesthetic: Dark slate visual design built for distraction-free user experience and clear decision making.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737360"/>
            <a:ext cx="512064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tIns="320040" rIns="320040" bIns="320040" wrap="square"/>
          <a:lstStyle/>
          <a:p>
            <a:pPr algn="ctr">
              <a:defRPr sz="1800" b="1">
                <a:solidFill>
                  <a:srgbClr val="1E1B26"/>
                </a:solidFill>
                <a:latin typeface="Georgia"/>
              </a:defRPr>
            </a:pPr>
            <a:r>
              <a:t>Project Team &amp; Academic Submission</a:t>
            </a:r>
          </a:p>
          <a:p>
            <a:pPr>
              <a:spcBef>
                <a:spcPts val="1200"/>
              </a:spcBef>
              <a:defRPr sz="1400" b="1">
                <a:solidFill>
                  <a:srgbClr val="D74155"/>
                </a:solidFill>
                <a:latin typeface="Segoe UI"/>
              </a:defRPr>
            </a:pPr>
            <a:r>
              <a:t>Presenters:</a:t>
            </a:r>
            <a:br/>
            <a:r>
              <a:t>• Keshav (Roll No: 2449391)</a:t>
            </a:r>
            <a:br/>
            <a:r>
              <a:t>• Darshveer (Roll No: 2449377)</a:t>
            </a:r>
          </a:p>
          <a:p>
            <a:pPr>
              <a:spcBef>
                <a:spcPts val="800"/>
              </a:spcBef>
              <a:defRPr sz="1200">
                <a:solidFill>
                  <a:srgbClr val="706C78"/>
                </a:solidFill>
                <a:latin typeface="Segoe UI"/>
              </a:defRPr>
            </a:pPr>
            <a:r>
              <a:t>Department of Computer Science &amp; Engineering</a:t>
            </a:r>
            <a:br/>
            <a:r>
              <a:t>Capstone Class Project Submission</a:t>
            </a:r>
          </a:p>
          <a:p>
            <a:pPr>
              <a:spcBef>
                <a:spcPts val="1400"/>
              </a:spcBef>
              <a:defRPr sz="1300" b="1">
                <a:solidFill>
                  <a:srgbClr val="2D3748"/>
                </a:solidFill>
                <a:latin typeface="Segoe UI"/>
              </a:defRPr>
            </a:pPr>
            <a:r>
              <a:t>GitHub Repository:</a:t>
            </a:r>
            <a:br/>
            <a:r>
              <a:t>github.com/keshav-x/rag-action-extractor</a:t>
            </a:r>
          </a:p>
          <a:p>
            <a:pPr>
              <a:spcBef>
                <a:spcPts val="1600"/>
              </a:spcBef>
              <a:defRPr sz="1400" b="1">
                <a:solidFill>
                  <a:srgbClr val="238636"/>
                </a:solidFill>
                <a:latin typeface="Georgia"/>
              </a:defRPr>
            </a:pPr>
            <a:r>
              <a:t>Thank you! Open for Questions &amp; Live Demonstration.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