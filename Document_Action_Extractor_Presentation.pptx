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ismatic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74155"/>
                </a:solidFill>
                <a:latin typeface="Segoe UI"/>
              </a:defRPr>
            </a:pPr>
            <a:r>
              <a:t>ACADEMIC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1B26"/>
                </a:solidFill>
                <a:latin typeface="Georgia"/>
              </a:defRPr>
            </a:pPr>
            <a:r>
              <a:t>Document Action</a:t>
            </a:r>
            <a:br/>
            <a:r>
              <a:t>Extractor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73540"/>
                </a:solidFill>
                <a:latin typeface="Segoe UI"/>
              </a:defRPr>
            </a:pPr>
            <a:r>
              <a:t>Automated Action Item, Assignee &amp; Deadline Extraction</a:t>
            </a:r>
            <a:br/>
            <a:r>
              <a:t>Powered by Retrieval-Augmented Generation &amp; Intelligent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06C78"/>
                </a:solidFill>
                <a:latin typeface="Segoe UI"/>
              </a:defRPr>
            </a:pPr>
            <a:r>
              <a:t>Presented by Keshav |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01 /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1B26"/>
                </a:solidFill>
                <a:latin typeface="Georgia"/>
              </a:defRPr>
            </a:pPr>
            <a:r>
              <a:t>The Challenge of Unstructured Business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 bIns="320040"/>
          <a:lstStyle/>
          <a:p>
            <a:pPr algn="ctr">
              <a:defRPr sz="1800" b="1">
                <a:solidFill>
                  <a:srgbClr val="1E1B26"/>
                </a:solidFill>
                <a:latin typeface="Georgia"/>
              </a:defRPr>
            </a:pPr>
            <a:r>
              <a:t>Information Overload in Team Meetings</a:t>
            </a:r>
          </a:p>
          <a:p>
            <a:pPr>
              <a:spcBef>
                <a:spcPts val="1200"/>
              </a:spcBef>
              <a:defRPr sz="1300">
                <a:solidFill>
                  <a:srgbClr val="373540"/>
                </a:solidFill>
                <a:latin typeface="Segoe UI"/>
              </a:defRPr>
            </a:pPr>
            <a:r>
              <a:t>• Modern organizations produce hundreds of pages of meeting minutes, technical specifications, and sprint reviews every week.</a:t>
            </a:r>
          </a:p>
          <a:p>
            <a:pPr>
              <a:spcBef>
                <a:spcPts val="1200"/>
              </a:spcBef>
              <a:defRPr sz="1300">
                <a:solidFill>
                  <a:srgbClr val="373540"/>
                </a:solidFill>
                <a:latin typeface="Segoe UI"/>
              </a:defRPr>
            </a:pPr>
            <a:r>
              <a:t>• Crucial commitments, assigned deliverables, and firm deadlines remain buried inside multi-page paragraphs.</a:t>
            </a:r>
          </a:p>
          <a:p>
            <a:pPr>
              <a:spcBef>
                <a:spcPts val="1200"/>
              </a:spcBef>
              <a:defRPr sz="1300">
                <a:solidFill>
                  <a:srgbClr val="373540"/>
                </a:solidFill>
                <a:latin typeface="Segoe UI"/>
              </a:defRPr>
            </a:pPr>
            <a:r>
              <a:t>• Manual tracking is slow, expensive, and subject to human oversight, leading to forgotten tasks and delayed projects.</a:t>
            </a:r>
          </a:p>
          <a:p>
            <a:pPr>
              <a:spcBef>
                <a:spcPts val="1200"/>
              </a:spcBef>
              <a:defRPr sz="1300">
                <a:solidFill>
                  <a:srgbClr val="373540"/>
                </a:solidFill>
                <a:latin typeface="Segoe UI"/>
              </a:defRPr>
            </a:pPr>
            <a:r>
              <a:t>• Organizations lack an automated pipeline to instantly convert raw documents into clean, accountable action items.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 b="1">
                <a:solidFill>
                  <a:srgbClr val="D74155"/>
                </a:solidFill>
                <a:latin typeface="Georgia"/>
              </a:defRPr>
            </a:pPr>
            <a:r>
              <a:t>01. Loss of Task Ownership</a:t>
            </a:r>
          </a:p>
          <a:p>
            <a:pPr>
              <a:spcBef>
                <a:spcPts val="400"/>
              </a:spcBef>
              <a:defRPr sz="1200">
                <a:solidFill>
                  <a:srgbClr val="373540"/>
                </a:solidFill>
                <a:latin typeface="Segoe UI"/>
              </a:defRPr>
            </a:pPr>
            <a:r>
              <a:t>When tasks are mentioned colloquially, responsibility is frequently diffused across team members without explicit accountability.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291839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 b="1">
                <a:solidFill>
                  <a:srgbClr val="D74155"/>
                </a:solidFill>
                <a:latin typeface="Georgia"/>
              </a:defRPr>
            </a:pPr>
            <a:r>
              <a:t>02. Missed Deliverable Deadlines</a:t>
            </a:r>
          </a:p>
          <a:p>
            <a:pPr>
              <a:spcBef>
                <a:spcPts val="400"/>
              </a:spcBef>
              <a:defRPr sz="1200">
                <a:solidFill>
                  <a:srgbClr val="373540"/>
                </a:solidFill>
                <a:latin typeface="Segoe UI"/>
              </a:defRPr>
            </a:pPr>
            <a:r>
              <a:t>Timeframes ('by Friday', 'end of Q4') buried within narrative prose are frequently overlooked by project managers.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846320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 b="1">
                <a:solidFill>
                  <a:srgbClr val="D74155"/>
                </a:solidFill>
                <a:latin typeface="Georgia"/>
              </a:defRPr>
            </a:pPr>
            <a:r>
              <a:t>03. Inefficient Administrative Overhead</a:t>
            </a:r>
          </a:p>
          <a:p>
            <a:pPr>
              <a:spcBef>
                <a:spcPts val="400"/>
              </a:spcBef>
              <a:defRPr sz="1200">
                <a:solidFill>
                  <a:srgbClr val="373540"/>
                </a:solidFill>
                <a:latin typeface="Segoe UI"/>
              </a:defRPr>
            </a:pPr>
            <a:r>
              <a:t>Engineers and managers waste up to 4.5 hours per week manually extracting and cataloging action items.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02 / 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1B26"/>
                </a:solidFill>
                <a:latin typeface="Georgia"/>
              </a:defRPr>
            </a:pPr>
            <a:r>
              <a:t>RAG-Powered Autonomous Action Extraction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600" b="1">
                <a:solidFill>
                  <a:srgbClr val="1E1B26"/>
                </a:solidFill>
                <a:latin typeface="Georgia"/>
              </a:defRPr>
            </a:pPr>
            <a:r>
              <a:t>Pillar 1: Multi-Format Parsing</a:t>
            </a:r>
          </a:p>
          <a:p>
            <a:pPr>
              <a:spcBef>
                <a:spcPts val="800"/>
              </a:spcBef>
              <a:defRPr sz="1300">
                <a:solidFill>
                  <a:srgbClr val="373540"/>
                </a:solidFill>
                <a:latin typeface="Segoe UI"/>
              </a:defRPr>
            </a:pPr>
            <a:r>
              <a:t>Native ingestion supporting PDF, DOCX, and TXT documents with intelligent text extraction and semantic boundary preservation.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600" b="1">
                <a:solidFill>
                  <a:srgbClr val="1E1B26"/>
                </a:solidFill>
                <a:latin typeface="Georgia"/>
              </a:defRPr>
            </a:pPr>
            <a:r>
              <a:t>Pillar 2: Vector Similarity Retrieval</a:t>
            </a:r>
          </a:p>
          <a:p>
            <a:pPr>
              <a:spcBef>
                <a:spcPts val="800"/>
              </a:spcBef>
              <a:defRPr sz="1300">
                <a:solidFill>
                  <a:srgbClr val="373540"/>
                </a:solidFill>
                <a:latin typeface="Segoe UI"/>
              </a:defRPr>
            </a:pPr>
            <a:r>
              <a:t>Recursively splits text into overlapping chunks, indexing into ChromaDB for high-precision semantic search against targeted queries.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02336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600" b="1">
                <a:solidFill>
                  <a:srgbClr val="1E1B26"/>
                </a:solidFill>
                <a:latin typeface="Georgia"/>
              </a:defRPr>
            </a:pPr>
            <a:r>
              <a:t>Pillar 3: Structured Schema Extraction</a:t>
            </a:r>
          </a:p>
          <a:p>
            <a:pPr>
              <a:spcBef>
                <a:spcPts val="800"/>
              </a:spcBef>
              <a:defRPr sz="1300">
                <a:solidFill>
                  <a:srgbClr val="373540"/>
                </a:solidFill>
                <a:latin typeface="Segoe UI"/>
              </a:defRPr>
            </a:pPr>
            <a:r>
              <a:t>Leverages advanced LLMs to extract strictly validated Pydantic models (Task, Owner, Deadline, Priority, and Source Citation).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02336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600" b="1">
                <a:solidFill>
                  <a:srgbClr val="1E1B26"/>
                </a:solidFill>
                <a:latin typeface="Georgia"/>
              </a:defRPr>
            </a:pPr>
            <a:r>
              <a:t>Pillar 4: Auditable &amp; Verifiable</a:t>
            </a:r>
          </a:p>
          <a:p>
            <a:pPr>
              <a:spcBef>
                <a:spcPts val="800"/>
              </a:spcBef>
              <a:defRPr sz="1300">
                <a:solidFill>
                  <a:srgbClr val="373540"/>
                </a:solidFill>
                <a:latin typeface="Segoe UI"/>
              </a:defRPr>
            </a:pPr>
            <a:r>
              <a:t>Every single extracted action item includes direct contextual evidence (exact sentence quote) guaranteeing zero hallucinations.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03 /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1B26"/>
                </a:solidFill>
                <a:latin typeface="Georgia"/>
              </a:defRPr>
            </a:pPr>
            <a:r>
              <a:t>Comprehensive Technical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D74155"/>
                </a:solidFill>
                <a:latin typeface="Segoe UI"/>
              </a:defRPr>
            </a:pPr>
            <a:r>
              <a:t>Step 1: Ingestion</a:t>
            </a:r>
          </a:p>
          <a:p>
            <a:pPr>
              <a:spcBef>
                <a:spcPts val="200"/>
              </a:spcBef>
              <a:defRPr sz="1500" b="1">
                <a:solidFill>
                  <a:srgbClr val="1E1B26"/>
                </a:solidFill>
                <a:latin typeface="Georgia"/>
              </a:defRPr>
            </a:pPr>
            <a:r>
              <a:t>Document Parsing</a:t>
            </a:r>
          </a:p>
          <a:p>
            <a:pPr>
              <a:spcBef>
                <a:spcPts val="6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Accepts .pdf (pypdf), .docx (python-docx), and .txt, extracting plain text stream.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D74155"/>
                </a:solidFill>
                <a:latin typeface="Segoe UI"/>
              </a:defRPr>
            </a:pPr>
            <a:r>
              <a:t>Step 2: Chunking</a:t>
            </a:r>
          </a:p>
          <a:p>
            <a:pPr>
              <a:spcBef>
                <a:spcPts val="200"/>
              </a:spcBef>
              <a:defRPr sz="1500" b="1">
                <a:solidFill>
                  <a:srgbClr val="1E1B26"/>
                </a:solidFill>
                <a:latin typeface="Georgia"/>
              </a:defRPr>
            </a:pPr>
            <a:r>
              <a:t>Text Splitting</a:t>
            </a:r>
          </a:p>
          <a:p>
            <a:pPr>
              <a:spcBef>
                <a:spcPts val="6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LangChain RecursiveCharacterTextSplitter splits into 1000-char chunks with 150-char overlap.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73736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D74155"/>
                </a:solidFill>
                <a:latin typeface="Segoe UI"/>
              </a:defRPr>
            </a:pPr>
            <a:r>
              <a:t>Step 3: Embedding</a:t>
            </a:r>
          </a:p>
          <a:p>
            <a:pPr>
              <a:spcBef>
                <a:spcPts val="200"/>
              </a:spcBef>
              <a:defRPr sz="1500" b="1">
                <a:solidFill>
                  <a:srgbClr val="1E1B26"/>
                </a:solidFill>
                <a:latin typeface="Georgia"/>
              </a:defRPr>
            </a:pPr>
            <a:r>
              <a:t>Vector Indexing</a:t>
            </a:r>
          </a:p>
          <a:p>
            <a:pPr>
              <a:spcBef>
                <a:spcPts val="6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Paced batching (25 chunks/batch) stores embeddings in ChromaDB persistent client.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D74155"/>
                </a:solidFill>
                <a:latin typeface="Segoe UI"/>
              </a:defRPr>
            </a:pPr>
            <a:r>
              <a:t>Step 4: Retrieval</a:t>
            </a:r>
          </a:p>
          <a:p>
            <a:pPr>
              <a:spcBef>
                <a:spcPts val="200"/>
              </a:spcBef>
              <a:defRPr sz="1500" b="1">
                <a:solidFill>
                  <a:srgbClr val="1E1B26"/>
                </a:solidFill>
                <a:latin typeface="Georgia"/>
              </a:defRPr>
            </a:pPr>
            <a:r>
              <a:t>Similarity Search</a:t>
            </a:r>
          </a:p>
          <a:p>
            <a:pPr>
              <a:spcBef>
                <a:spcPts val="6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Top-K similarity retrieval pulls the most relevant context chunks for user queries.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02336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D74155"/>
                </a:solidFill>
                <a:latin typeface="Segoe UI"/>
              </a:defRPr>
            </a:pPr>
            <a:r>
              <a:t>Step 5: Reasoning</a:t>
            </a:r>
          </a:p>
          <a:p>
            <a:pPr>
              <a:spcBef>
                <a:spcPts val="200"/>
              </a:spcBef>
              <a:defRPr sz="1500" b="1">
                <a:solidFill>
                  <a:srgbClr val="1E1B26"/>
                </a:solidFill>
                <a:latin typeface="Georgia"/>
              </a:defRPr>
            </a:pPr>
            <a:r>
              <a:t>LLM Inference</a:t>
            </a:r>
          </a:p>
          <a:p>
            <a:pPr>
              <a:spcBef>
                <a:spcPts val="6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Google Gemini Flash or Local Ollama Qwen executes structured JSON extraction.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402336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D74155"/>
                </a:solidFill>
                <a:latin typeface="Segoe UI"/>
              </a:defRPr>
            </a:pPr>
            <a:r>
              <a:t>Step 6: Delivery</a:t>
            </a:r>
          </a:p>
          <a:p>
            <a:pPr>
              <a:spcBef>
                <a:spcPts val="200"/>
              </a:spcBef>
              <a:defRPr sz="1500" b="1">
                <a:solidFill>
                  <a:srgbClr val="1E1B26"/>
                </a:solidFill>
                <a:latin typeface="Georgia"/>
              </a:defRPr>
            </a:pPr>
            <a:r>
              <a:t>Validation &amp; Export</a:t>
            </a:r>
          </a:p>
          <a:p>
            <a:pPr>
              <a:spcBef>
                <a:spcPts val="6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Pydantic ActionItemList validation, priority tagging, and 1-click CSV/JSON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04 / ENGINEERING BREAKTHROUGHS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1B26"/>
                </a:solidFill>
                <a:latin typeface="Georgia"/>
              </a:defRPr>
            </a:pPr>
            <a:r>
              <a:t>Solving Rate Limits &amp; Enabling Offline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 bIns="320040"/>
          <a:lstStyle/>
          <a:p>
            <a:pPr algn="ctr">
              <a:defRPr sz="1800" b="1">
                <a:solidFill>
                  <a:srgbClr val="1E1B26"/>
                </a:solidFill>
                <a:latin typeface="Georgia"/>
              </a:defRPr>
            </a:pPr>
            <a:r>
              <a:t>Solving Google 429 Quota Exhaustion</a:t>
            </a:r>
          </a:p>
          <a:p>
            <a:pPr>
              <a:spcBef>
                <a:spcPts val="1000"/>
              </a:spcBef>
              <a:defRPr sz="1250">
                <a:solidFill>
                  <a:srgbClr val="373540"/>
                </a:solidFill>
                <a:latin typeface="Segoe UI"/>
              </a:defRPr>
            </a:pPr>
            <a:r>
              <a:t>• The Problem: Google GenAI Free Tier imposes a strict 100 requests/minute quota. A typical 1MB PDF generates 200+ chunks, causing immediate 429 crashes.</a:t>
            </a:r>
          </a:p>
          <a:p>
            <a:pPr>
              <a:spcBef>
                <a:spcPts val="1000"/>
              </a:spcBef>
              <a:defRPr sz="1250">
                <a:solidFill>
                  <a:srgbClr val="373540"/>
                </a:solidFill>
                <a:latin typeface="Segoe UI"/>
              </a:defRPr>
            </a:pPr>
            <a:r>
              <a:t>• The Solution: Implemented local CPU embeddings using all-MiniLM-L6-v2 via ONNX.</a:t>
            </a:r>
          </a:p>
          <a:p>
            <a:pPr>
              <a:spcBef>
                <a:spcPts val="1000"/>
              </a:spcBef>
              <a:defRPr sz="1250">
                <a:solidFill>
                  <a:srgbClr val="373540"/>
                </a:solidFill>
                <a:latin typeface="Segoe UI"/>
              </a:defRPr>
            </a:pPr>
            <a:r>
              <a:t>• Zero API Calls: Entire document indexing runs 100% locally with 0 external API calls.</a:t>
            </a:r>
          </a:p>
          <a:p>
            <a:pPr>
              <a:spcBef>
                <a:spcPts val="1000"/>
              </a:spcBef>
              <a:defRPr sz="1250">
                <a:solidFill>
                  <a:srgbClr val="373540"/>
                </a:solidFill>
                <a:latin typeface="Segoe UI"/>
              </a:defRPr>
            </a:pPr>
            <a:r>
              <a:t>• Adaptive Backoff: For cloud embeddings, paced batches of 25 chunks with dynamic 40s+ retry handlers guarantee zero unhandled crashes.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 bIns="320040"/>
          <a:lstStyle/>
          <a:p>
            <a:pPr algn="ctr">
              <a:defRPr sz="1800" b="1">
                <a:solidFill>
                  <a:srgbClr val="1E1B26"/>
                </a:solidFill>
                <a:latin typeface="Georgia"/>
              </a:defRPr>
            </a:pPr>
            <a:r>
              <a:t>Dual-Engine Inference Architecture</a:t>
            </a:r>
          </a:p>
          <a:p>
            <a:pPr>
              <a:spcBef>
                <a:spcPts val="1000"/>
              </a:spcBef>
              <a:defRPr sz="1250">
                <a:solidFill>
                  <a:srgbClr val="373540"/>
                </a:solidFill>
                <a:latin typeface="Segoe UI"/>
              </a:defRPr>
            </a:pPr>
            <a:r>
              <a:t>• Cloud LLM (Google Gemini): Lightning-fast inference (1.5s per query) utilizing Gemini 1.5 &amp; 2.0 Flash for structured output generation.</a:t>
            </a:r>
          </a:p>
          <a:p>
            <a:pPr>
              <a:spcBef>
                <a:spcPts val="1000"/>
              </a:spcBef>
              <a:defRPr sz="1250">
                <a:solidFill>
                  <a:srgbClr val="373540"/>
                </a:solidFill>
                <a:latin typeface="Segoe UI"/>
              </a:defRPr>
            </a:pPr>
            <a:r>
              <a:t>• Local LLM (Ollama): Complete offline privacy with zero external connectivity requirements.</a:t>
            </a:r>
          </a:p>
          <a:p>
            <a:pPr>
              <a:spcBef>
                <a:spcPts val="1000"/>
              </a:spcBef>
              <a:defRPr sz="1250">
                <a:solidFill>
                  <a:srgbClr val="373540"/>
                </a:solidFill>
                <a:latin typeface="Segoe UI"/>
              </a:defRPr>
            </a:pPr>
            <a:r>
              <a:t>• Integrated Model: Connected to huihui_ai/qwen3.5-abliterated:9b running directly on local machine via Ollama API.</a:t>
            </a:r>
          </a:p>
          <a:p>
            <a:pPr>
              <a:spcBef>
                <a:spcPts val="1000"/>
              </a:spcBef>
              <a:defRPr sz="1250">
                <a:solidFill>
                  <a:srgbClr val="373540"/>
                </a:solidFill>
                <a:latin typeface="Segoe UI"/>
              </a:defRPr>
            </a:pPr>
            <a:r>
              <a:t>• 100% Offline Capability: When paired with local embeddings, the application functions seamlessly even without an internet connection.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05 / PRODUCT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1B26"/>
                </a:solidFill>
                <a:latin typeface="Georgia"/>
              </a:defRPr>
            </a:pPr>
            <a:r>
              <a:t>Minimalist User Interface &amp; Document Ingestion</a:t>
            </a:r>
          </a:p>
        </p:txBody>
      </p:sp>
      <p:pic>
        <p:nvPicPr>
          <p:cNvPr id="5" name="Picture 4" descr="slide_screenshot_inde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583680" cy="43719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7373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1E1B26"/>
                </a:solidFill>
                <a:latin typeface="Georgia"/>
              </a:defRPr>
            </a:pPr>
            <a:r>
              <a:t>Document Ingestion Workflow</a:t>
            </a:r>
          </a:p>
          <a:p>
            <a:pPr>
              <a:spcBef>
                <a:spcPts val="1200"/>
              </a:spcBef>
              <a:defRPr sz="1200">
                <a:solidFill>
                  <a:srgbClr val="373540"/>
                </a:solidFill>
                <a:latin typeface="Segoe UI"/>
              </a:defRPr>
            </a:pPr>
            <a:r>
              <a:t>1. Multi-Format Upload: Drag-and-drop support for PDF, Word (.docx), and plain text (.txt).</a:t>
            </a:r>
          </a:p>
          <a:p>
            <a:pPr>
              <a:spcBef>
                <a:spcPts val="1200"/>
              </a:spcBef>
              <a:defRPr sz="1200">
                <a:solidFill>
                  <a:srgbClr val="373540"/>
                </a:solidFill>
                <a:latin typeface="Segoe UI"/>
              </a:defRPr>
            </a:pPr>
            <a:r>
              <a:t>2. Transparent Text Preview: Collapsible preview drawer lets users verify raw extracted text before querying.</a:t>
            </a:r>
          </a:p>
          <a:p>
            <a:pPr>
              <a:spcBef>
                <a:spcPts val="1200"/>
              </a:spcBef>
              <a:defRPr sz="1200">
                <a:solidFill>
                  <a:srgbClr val="373540"/>
                </a:solidFill>
                <a:latin typeface="Segoe UI"/>
              </a:defRPr>
            </a:pPr>
            <a:r>
              <a:t>3. Live Status Indicators: Displays real-time chunk counts and vector database indexing state.</a:t>
            </a:r>
          </a:p>
          <a:p>
            <a:pPr>
              <a:spcBef>
                <a:spcPts val="1200"/>
              </a:spcBef>
              <a:defRPr sz="1200">
                <a:solidFill>
                  <a:srgbClr val="373540"/>
                </a:solidFill>
                <a:latin typeface="Segoe UI"/>
              </a:defRPr>
            </a:pPr>
            <a:r>
              <a:t>4. One-Click Presets: Instant buttons for 'All Action Items', 'High Priority', and 'Upcoming Deadlines'.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06 / RESULTS &amp;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1B26"/>
                </a:solidFill>
                <a:latin typeface="Georgia"/>
              </a:defRPr>
            </a:pPr>
            <a:r>
              <a:t>Structured Action Items with Full Traceability</a:t>
            </a:r>
          </a:p>
        </p:txBody>
      </p:sp>
      <p:pic>
        <p:nvPicPr>
          <p:cNvPr id="5" name="Picture 4" descr="slide_screensh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583680" cy="43719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7373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700" b="1">
                <a:solidFill>
                  <a:srgbClr val="1E1B26"/>
                </a:solidFill>
                <a:latin typeface="Georgia"/>
              </a:defRPr>
            </a:pPr>
            <a:r>
              <a:t>Structured Output Features</a:t>
            </a:r>
          </a:p>
          <a:p>
            <a:pPr>
              <a:spcBef>
                <a:spcPts val="10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1. Complete Visibility: Full task descriptions wrap cleanly without horizontal scrollbars or cutoffs.</a:t>
            </a:r>
          </a:p>
          <a:p>
            <a:pPr>
              <a:spcBef>
                <a:spcPts val="10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2. Clear Ownership: Highlights exact assigned owners (e.g. Sarah Chen, Alex Rodriguez) and due dates.</a:t>
            </a:r>
          </a:p>
          <a:p>
            <a:pPr>
              <a:spcBef>
                <a:spcPts val="10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3. Priority Tags: High, Medium, and Low urgency badges for instantaneous task triage.</a:t>
            </a:r>
          </a:p>
          <a:p>
            <a:pPr>
              <a:spcBef>
                <a:spcPts val="10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4. Source Citations: Direct document quotations prevent LLM hallucinations and enable easy verification.</a:t>
            </a:r>
          </a:p>
          <a:p>
            <a:pPr>
              <a:spcBef>
                <a:spcPts val="10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5. 1-Click Export: Immediate download in structured CSV or JSON formats for project management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07 /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1B26"/>
                </a:solidFill>
                <a:latin typeface="Georgia"/>
              </a:defRPr>
            </a:pPr>
            <a:r>
              <a:t>Modular &amp; Scalable Modern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600" b="1">
                <a:solidFill>
                  <a:srgbClr val="1E1B26"/>
                </a:solidFill>
                <a:latin typeface="Georgia"/>
              </a:defRPr>
            </a:pPr>
            <a:r>
              <a:t>Streamlit</a:t>
            </a:r>
          </a:p>
          <a:p>
            <a:pPr>
              <a:spcBef>
                <a:spcPts val="200"/>
              </a:spcBef>
              <a:defRPr sz="1100" b="1">
                <a:solidFill>
                  <a:srgbClr val="D74155"/>
                </a:solidFill>
                <a:latin typeface="Segoe UI"/>
              </a:defRPr>
            </a:pPr>
            <a:r>
              <a:t>Frontend Web Interface</a:t>
            </a:r>
          </a:p>
          <a:p>
            <a:pPr>
              <a:spcBef>
                <a:spcPts val="6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Lightweight, reactive Python framework delivering clean dark slate UI without web bloat.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600" b="1">
                <a:solidFill>
                  <a:srgbClr val="1E1B26"/>
                </a:solidFill>
                <a:latin typeface="Georgia"/>
              </a:defRPr>
            </a:pPr>
            <a:r>
              <a:t>LangChain</a:t>
            </a:r>
          </a:p>
          <a:p>
            <a:pPr>
              <a:spcBef>
                <a:spcPts val="200"/>
              </a:spcBef>
              <a:defRPr sz="1100" b="1">
                <a:solidFill>
                  <a:srgbClr val="D74155"/>
                </a:solidFill>
                <a:latin typeface="Segoe UI"/>
              </a:defRPr>
            </a:pPr>
            <a:r>
              <a:t>RAG Orchestration</a:t>
            </a:r>
          </a:p>
          <a:p>
            <a:pPr>
              <a:spcBef>
                <a:spcPts val="6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Manages document chunking, prompt composition, vector query pipelines, and model adapters.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73736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600" b="1">
                <a:solidFill>
                  <a:srgbClr val="1E1B26"/>
                </a:solidFill>
                <a:latin typeface="Georgia"/>
              </a:defRPr>
            </a:pPr>
            <a:r>
              <a:t>ChromaDB</a:t>
            </a:r>
          </a:p>
          <a:p>
            <a:pPr>
              <a:spcBef>
                <a:spcPts val="200"/>
              </a:spcBef>
              <a:defRPr sz="1100" b="1">
                <a:solidFill>
                  <a:srgbClr val="D74155"/>
                </a:solidFill>
                <a:latin typeface="Segoe UI"/>
              </a:defRPr>
            </a:pPr>
            <a:r>
              <a:t>Vector Database</a:t>
            </a:r>
          </a:p>
          <a:p>
            <a:pPr>
              <a:spcBef>
                <a:spcPts val="6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Persistent local vector store storing document embeddings for fast semantic similarity search.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600" b="1">
                <a:solidFill>
                  <a:srgbClr val="1E1B26"/>
                </a:solidFill>
                <a:latin typeface="Georgia"/>
              </a:defRPr>
            </a:pPr>
            <a:r>
              <a:t>Google Gemini</a:t>
            </a:r>
          </a:p>
          <a:p>
            <a:pPr>
              <a:spcBef>
                <a:spcPts val="200"/>
              </a:spcBef>
              <a:defRPr sz="1100" b="1">
                <a:solidFill>
                  <a:srgbClr val="D74155"/>
                </a:solidFill>
                <a:latin typeface="Segoe UI"/>
              </a:defRPr>
            </a:pPr>
            <a:r>
              <a:t>Cloud Reasoning</a:t>
            </a:r>
          </a:p>
          <a:p>
            <a:pPr>
              <a:spcBef>
                <a:spcPts val="6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State-of-the-art Flash models providing sub-2-second JSON structured extraction.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02336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600" b="1">
                <a:solidFill>
                  <a:srgbClr val="1E1B26"/>
                </a:solidFill>
                <a:latin typeface="Georgia"/>
              </a:defRPr>
            </a:pPr>
            <a:r>
              <a:t>Ollama</a:t>
            </a:r>
          </a:p>
          <a:p>
            <a:pPr>
              <a:spcBef>
                <a:spcPts val="200"/>
              </a:spcBef>
              <a:defRPr sz="1100" b="1">
                <a:solidFill>
                  <a:srgbClr val="D74155"/>
                </a:solidFill>
                <a:latin typeface="Segoe UI"/>
              </a:defRPr>
            </a:pPr>
            <a:r>
              <a:t>Local Offline LLM</a:t>
            </a:r>
          </a:p>
          <a:p>
            <a:pPr>
              <a:spcBef>
                <a:spcPts val="6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Runs open-weights Qwen 3.5 9B locally on CPU/GPU for complete data confidentiality.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4023360"/>
            <a:ext cx="3337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600" b="1">
                <a:solidFill>
                  <a:srgbClr val="1E1B26"/>
                </a:solidFill>
                <a:latin typeface="Georgia"/>
              </a:defRPr>
            </a:pPr>
            <a:r>
              <a:t>Pydantic v2</a:t>
            </a:r>
          </a:p>
          <a:p>
            <a:pPr>
              <a:spcBef>
                <a:spcPts val="200"/>
              </a:spcBef>
              <a:defRPr sz="1100" b="1">
                <a:solidFill>
                  <a:srgbClr val="D74155"/>
                </a:solidFill>
                <a:latin typeface="Segoe UI"/>
              </a:defRPr>
            </a:pPr>
            <a:r>
              <a:t>Schema Validation</a:t>
            </a:r>
          </a:p>
          <a:p>
            <a:pPr>
              <a:spcBef>
                <a:spcPts val="6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Strict type validation guaranteeing compliant JSON output without parsing failures.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ismatic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1371600"/>
            <a:ext cx="7772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defRPr sz="2400" b="1">
                <a:solidFill>
                  <a:srgbClr val="1E1B26"/>
                </a:solidFill>
                <a:latin typeface="Georgia"/>
              </a:defRPr>
            </a:pPr>
            <a:r>
              <a:t>Summary &amp; Future Roadmap</a:t>
            </a:r>
          </a:p>
          <a:p>
            <a:pPr>
              <a:spcBef>
                <a:spcPts val="1200"/>
              </a:spcBef>
              <a:defRPr sz="1300">
                <a:solidFill>
                  <a:srgbClr val="373540"/>
                </a:solidFill>
                <a:latin typeface="Segoe UI"/>
              </a:defRPr>
            </a:pPr>
            <a:r>
              <a:t>• Delivered a complete, functional RAG application extracting structured action items from unstructured business documents.</a:t>
            </a:r>
          </a:p>
          <a:p>
            <a:pPr>
              <a:spcBef>
                <a:spcPts val="1200"/>
              </a:spcBef>
              <a:defRPr sz="1300">
                <a:solidFill>
                  <a:srgbClr val="373540"/>
                </a:solidFill>
                <a:latin typeface="Segoe UI"/>
              </a:defRPr>
            </a:pPr>
            <a:r>
              <a:t>• Overcame Google free-tier 429 quota exhaustion through custom local embedding engine and adaptive request pacing.</a:t>
            </a:r>
          </a:p>
          <a:p>
            <a:pPr>
              <a:spcBef>
                <a:spcPts val="1200"/>
              </a:spcBef>
              <a:defRPr sz="1300">
                <a:solidFill>
                  <a:srgbClr val="373540"/>
                </a:solidFill>
                <a:latin typeface="Segoe UI"/>
              </a:defRPr>
            </a:pPr>
            <a:r>
              <a:t>• Engineered dual-engine inference enabling both cloud-scale Gemini processing and 100% offline Ollama execution.</a:t>
            </a:r>
          </a:p>
          <a:p>
            <a:pPr>
              <a:spcBef>
                <a:spcPts val="1200"/>
              </a:spcBef>
              <a:defRPr sz="1300">
                <a:solidFill>
                  <a:srgbClr val="373540"/>
                </a:solidFill>
                <a:latin typeface="Segoe UI"/>
              </a:defRPr>
            </a:pPr>
            <a:r>
              <a:t>• Future Roadmap: Integrations with Jira, Notion, and Slack APIs for direct automated task ticket creation.</a:t>
            </a:r>
          </a:p>
          <a:p>
            <a:pPr>
              <a:spcBef>
                <a:spcPts val="1200"/>
              </a:spcBef>
              <a:defRPr sz="1300">
                <a:solidFill>
                  <a:srgbClr val="373540"/>
                </a:solidFill>
                <a:latin typeface="Segoe UI"/>
              </a:defRPr>
            </a:pPr>
            <a:r>
              <a:t>• Thank you! Ready for Live Demonstration &amp;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